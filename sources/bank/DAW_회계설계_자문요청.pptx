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47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4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DAW 수탁 시스템</a:t>
            </a:r>
            <a:endParaRPr lang="en-US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4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회계·계정 설계 자문 요청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v0.1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회계자금 개발팀 자문 미팅 · 2026.04.30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미팅 목적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상황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486400" cy="4206240"/>
          </a:xfrm>
          <a:prstGeom prst="rect">
            <a:avLst/>
          </a:prstGeom>
          <a:ln w="12700">
            <a:solidFill>
              <a:srgbClr val="4472C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85800" y="201168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원화·달러 스테이블코인(KRWK·USDC) 수탁 시스템 설계 진행 중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4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DAW 영역(블록체인 + 오프체인 장부)과 계정계 영역(법정통화)을 어떻게 연결할지 큰 그림은 잡혀 있음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4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 처리 / 계정 설계 / 결산 프로세스 측면은 막히는 지점이 많음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4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 설계하면 운영 시작 후 되돌리기 어려운 영역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미팅에서 원하는 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486400" cy="4206240"/>
          </a:xfrm>
          <a:prstGeom prst="rect">
            <a:avLst/>
          </a:prstGeom>
          <a:ln w="12700">
            <a:solidFill>
              <a:srgbClr val="C0000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629400" y="201168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구상 중인 설계 공유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현재 DB 구조와 회계 항등식 구상을 보여드리고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방향이 맞는지 의견 듣기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막히는 지점 자문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손익 계정·외화환산·결산 프로세스 등에서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실무 경험 기반 조언 듣기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펀드 수신 시스템과의 연계 가능성 탐색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기존 시스템에서 차용 가능한 패턴이 있다면 듣기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결정 사항 합의가 아닌, 방향성 조언이 목적입니다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개요 — 3계층 구조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온체인 자산 + 오프체인 장부 + 정산 메커니즘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4389120"/>
          </a:xfrm>
          <a:prstGeom prst="rect">
            <a:avLst/>
          </a:prstGeom>
          <a:ln w="12700">
            <a:solidFill>
              <a:srgbClr val="C0000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블록체인 원장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가상자산 보관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514600"/>
            <a:ext cx="3017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60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받는 지갑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핫월렛 · 입금 전용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3291840"/>
            <a:ext cx="3017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보내는 지갑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611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핫월렛 · 출금 전용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4069080"/>
            <a:ext cx="3017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114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콜드월렛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389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에어갭 · 80% 이상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4846320"/>
            <a:ext cx="3017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892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카뱅 자체 지갑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5166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사업자 자기자본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0" y="1554480"/>
            <a:ext cx="3657600" cy="4389120"/>
          </a:xfrm>
          <a:prstGeom prst="rect">
            <a:avLst/>
          </a:prstGeom>
          <a:ln w="12700">
            <a:solidFill>
              <a:srgbClr val="4472C4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29768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DAW 원장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9768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오프체인 잔액·거래내역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2514600"/>
            <a:ext cx="3017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651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원장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1772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UserID별 잔액·거래내역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3611880"/>
            <a:ext cx="3017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카뱅 원장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17720" y="4069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보유분 잔액·거래내역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4709160"/>
            <a:ext cx="3017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4846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델타 원장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17720" y="5166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미정산 차액 (정산 플래그)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38160" y="1554480"/>
            <a:ext cx="3657600" cy="4389120"/>
          </a:xfrm>
          <a:prstGeom prst="rect">
            <a:avLst/>
          </a:prstGeom>
          <a:ln w="12700">
            <a:solidFill>
              <a:srgbClr val="548235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813816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482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계정계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3816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은행 시스템 (법정통화)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458200" y="2514600"/>
            <a:ext cx="3017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58200" y="2651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원장 (수신계좌)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5820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원화·달러 잔액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458200" y="3611880"/>
            <a:ext cx="3017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58200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카뱅 원장 (수신계좌)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458200" y="4069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원화·달러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458200" y="4709160"/>
            <a:ext cx="3017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58200" y="4846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총계정 원장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458200" y="5166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자산·부채 통합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거래마다 양 영역의 원장이 동시 갱신 → 정합성 검증 필수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 항등식 — 시스템의 핵심 불변식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총계정 원장에서 항상 성립해야 함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ln w="12700">
            <a:solidFill>
              <a:srgbClr val="BFBFBF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자산총액</a:t>
            </a:r>
            <a:pPr algn="ctr" indent="0" marL="0">
              <a:buNone/>
            </a:pPr>
            <a:r>
              <a:rPr lang="en-US" sz="28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=  </a:t>
            </a:r>
            <a:pPr algn="ctr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반환채무 총액</a:t>
            </a:r>
            <a:pPr algn="ctr" indent="0" marL="0">
              <a:buNone/>
            </a:pPr>
            <a:r>
              <a:rPr lang="en-US" sz="28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+  </a:t>
            </a:r>
            <a:pPr algn="ctr" indent="0" marL="0">
              <a:buNone/>
            </a:pPr>
            <a:r>
              <a:rPr lang="en-US" sz="2800" b="1" dirty="0">
                <a:solidFill>
                  <a:srgbClr val="5482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자기자본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기준 KRWK 수치 (스왑 후 최종 시점)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474720"/>
            <a:ext cx="3657600" cy="2377440"/>
          </a:xfrm>
          <a:prstGeom prst="rect">
            <a:avLst/>
          </a:prstGeom>
          <a:ln w="12700">
            <a:solidFill>
              <a:srgbClr val="4472C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자산총액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5,010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49377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온체인 카뱅 지갑 5,000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고객 받는 지갑 10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61688" y="3474720"/>
            <a:ext cx="3657600" cy="2377440"/>
          </a:xfrm>
          <a:prstGeom prst="rect">
            <a:avLst/>
          </a:prstGeom>
          <a:ln w="12700">
            <a:solidFill>
              <a:srgbClr val="C0000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361688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반환채무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61688" y="40233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361688" y="49377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u1 잔액 5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u2 잔액 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66176" y="3474720"/>
            <a:ext cx="3657600" cy="2377440"/>
          </a:xfrm>
          <a:prstGeom prst="rect">
            <a:avLst/>
          </a:prstGeom>
          <a:ln w="12700">
            <a:solidFill>
              <a:srgbClr val="548235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8266176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자기자본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66176" y="40233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5,000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266176" y="49377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산출값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(자산 − 부채)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solidFill>
            <a:srgbClr val="FFF2CC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항등식이 깨지면 즉시 시스템 정지가 필요한 수준의 사고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시나리오 — 원장별 영향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거래가 어느 원장을 갱신하는지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828800"/>
                <a:gridCol w="1828800"/>
                <a:gridCol w="182880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거래 유형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온체인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 원장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카뱅 원장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델타 원장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총계정 변화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KRWK Mint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482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482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자산 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KRWK 온램프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482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482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482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부채 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내부 이체 (SND)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482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외부 수취 (RECV)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482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482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자산·부채 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KRWK→USDC 스왑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482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482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482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오프램프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482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482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482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482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부채 ↓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348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4800600"/>
            <a:ext cx="11247120" cy="1554480"/>
          </a:xfrm>
          <a:prstGeom prst="rect">
            <a:avLst/>
          </a:prstGeom>
          <a:ln w="12700">
            <a:solidFill>
              <a:srgbClr val="BFBFBF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685800" y="493776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내부 이체는 가장 가벼움 — 고객 원장만 갱신, 다른 영역은 무영향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4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온램프·스왑은 가장 복잡 — 고객·카뱅·델타 원장이 동시 갱신, 트랜잭션 원자성 보장 중요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4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외부 수취만 자산·부채 동시 증가 — 자기자본은 변동 없음 (양변 균등 증가)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고민 지점 ①  손익 계정을 어떻게 둘지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총계정원장에는 자산·부채만 있음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구상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486400" cy="4114800"/>
          </a:xfrm>
          <a:prstGeom prst="rect">
            <a:avLst/>
          </a:prstGeom>
          <a:ln w="12700">
            <a:solidFill>
              <a:srgbClr val="BFBFBF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총계정원장 (4개 계정)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51206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KRWK 자산총액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2331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51206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88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USDC 자산총액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788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51206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KRWK 반환채무 총액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246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51206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03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USDC 반환채무 총액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703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5120640" cy="1325880"/>
          </a:xfrm>
          <a:prstGeom prst="rect">
            <a:avLst/>
          </a:prstGeom>
          <a:solidFill>
            <a:srgbClr val="FBE5D6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526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손익을 인식할 곳이 없음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4846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수수료 수익 어디에?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환율 변동 평가손익은?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가스비 같은 운영비용은?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싶은 것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0" y="1783080"/>
            <a:ext cx="5486400" cy="4114800"/>
          </a:xfrm>
          <a:prstGeom prst="rect">
            <a:avLst/>
          </a:prstGeom>
          <a:ln w="12700">
            <a:solidFill>
              <a:srgbClr val="C0000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58368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Q1. 계정 분류는 어느 수준까지?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66560" y="23317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수수료수익·외환매매수익·외화환산손익·가스비… 펀드는 어떻게 나눠두셨나요?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3246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Q2. 코인별로 나눠야 하나요?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KRWK 수수료수익 / USDC 수수료수익 별도? 아니면 통합 후 보조부?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4526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Q3. 원화 환산 시점은?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0" y="4892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발생 시점? 일말 환율? 펀드 시 외화 손익 처리 방법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펀드 수신 시스템에서 사용한 계정과목 체계 참고하고 싶습니다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고민 지점 ②  자기자본 계정을 별도로 둘지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현재는 자산 − 부채로 산출만 가능, 명시 계정 없음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486400" cy="1463040"/>
          </a:xfrm>
          <a:prstGeom prst="rect">
            <a:avLst/>
          </a:prstGeom>
          <a:ln w="12700">
            <a:solidFill>
              <a:srgbClr val="BFBFBF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자기자본 = 자산총액 − 반환채무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(쿼리로 매번 계산)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737360"/>
            <a:ext cx="5486400" cy="1463040"/>
          </a:xfrm>
          <a:prstGeom prst="rect">
            <a:avLst/>
          </a:prstGeom>
          <a:ln w="12700">
            <a:solidFill>
              <a:srgbClr val="548235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400800" y="17373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자기자본 계정을 별도 행으로 보유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변동 거래 이력 + 일별 스냅샷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싶은 것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11247120" cy="685800"/>
          </a:xfrm>
          <a:prstGeom prst="rect">
            <a:avLst/>
          </a:prstGeom>
          <a:ln w="12700">
            <a:solidFill>
              <a:srgbClr val="BFBFBF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40080" y="393192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482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977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잔액 vs 회계 잔액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397764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카뱅 원장(운영 데이터)과 자기자본(회계 데이터)을 어떻게 구분 관리?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11247120" cy="685800"/>
          </a:xfrm>
          <a:prstGeom prst="rect">
            <a:avLst/>
          </a:prstGeom>
          <a:ln w="12700">
            <a:solidFill>
              <a:srgbClr val="BFBFBF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40080" y="470916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482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7548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잔액 · 거래 · 스냅샷 3종 구조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0" y="475488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펀드 시 마감 잔액 스냅샷은 어떤 주기로? immutable 보장 방법?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486400"/>
            <a:ext cx="11247120" cy="685800"/>
          </a:xfrm>
          <a:prstGeom prst="rect">
            <a:avLst/>
          </a:prstGeom>
          <a:ln w="12700">
            <a:solidFill>
              <a:srgbClr val="BFBFBF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40080" y="54864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482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55321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음수 진입 차단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55321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자기자본 음수 = 고객자산 잠식. DB 제약·트리거·트랜잭션 차단 어디서?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고민 지점 ③  USDC를 외화로 어떻게 처리할지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원화·달러 두 통화가 섞인 회계 처리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예시: u1이 100 KRWK → 0.1 USDC 스왑 (환율 1,000원/USD)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1463040"/>
          </a:xfrm>
          <a:prstGeom prst="rect">
            <a:avLst/>
          </a:prstGeom>
          <a:ln w="12700">
            <a:solidFill>
              <a:srgbClr val="BFBFBF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(차) KRWK 반환채무   100원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(대) USDC 반환채무   0.1 USD     ← 단위가 다름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싶은 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023360"/>
            <a:ext cx="3657600" cy="2194560"/>
          </a:xfrm>
          <a:prstGeom prst="rect">
            <a:avLst/>
          </a:prstGeom>
          <a:ln w="12700">
            <a:solidFill>
              <a:srgbClr val="BFBFB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85800" y="4160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4526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환율 적용 시점·기준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5029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시점 환율 vs 마감 환율, 매매기준율 vs 고시환율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61688" y="4023360"/>
            <a:ext cx="3657600" cy="2194560"/>
          </a:xfrm>
          <a:prstGeom prst="rect">
            <a:avLst/>
          </a:prstGeom>
          <a:ln w="12700">
            <a:solidFill>
              <a:srgbClr val="BFBFBF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590288" y="4160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0288" y="4526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환산 주기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90288" y="5029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실시간? 일말? 월말? 펀드 시스템의 외화 평가 주기는?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66176" y="4023360"/>
            <a:ext cx="3657600" cy="2194560"/>
          </a:xfrm>
          <a:prstGeom prst="rect">
            <a:avLst/>
          </a:prstGeom>
          <a:ln w="12700">
            <a:solidFill>
              <a:srgbClr val="BFBFBF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8494776" y="4160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94776" y="4526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평가손익 계정 분리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94776" y="5029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외환매매수익 / 외화환산손익 / 외화평가손익 — 어떻게 나누셨나요?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펀드도 외화 표시 종목 다루실 텐데, 그 처리 방식 듣고 싶습니다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고민 지점 ④  결산·마감 프로세스를 어떻게 설계할지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거래는 24시간 발생, 마감은 회계 기간 단위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막막한 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486400" cy="4297680"/>
          </a:xfrm>
          <a:prstGeom prst="rect">
            <a:avLst/>
          </a:prstGeom>
          <a:ln w="12700">
            <a:solidFill>
              <a:srgbClr val="BFBFBF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85800" y="196596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거래는 24/7 발생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블록체인은 멈추지 않음. 마감 시점에도 거래 발생 가능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마감은 시점 기준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특정 시점의 잔액을 박제해야 함. 그 이후 거래는 다음 기간으로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환율 적용 시점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USDC 잔액을 원화 환산할 때 어느 시점 환율?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정정 처리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마감 후 오류 발견되면 어떻게 처리?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싶은 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783080"/>
            <a:ext cx="5486400" cy="4297680"/>
          </a:xfrm>
          <a:prstGeom prst="rect">
            <a:avLst/>
          </a:prstGeom>
          <a:ln w="12700">
            <a:solidFill>
              <a:srgbClr val="7030A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62940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Q1. 마감 처리 시간 기준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12280" y="23317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자정? UTC? 영업일 마감?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29400" y="2926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Q2. 스냅샷 테이블 구조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12280" y="32918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데이터를 어떤 주기로 박제? immutable 보장은?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9400" y="3886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Q3. 기존 계정계와 동기화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12280" y="42519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 일·월·분기 마감과 DAW 마감을 어떻게 맞추나요?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29400" y="4846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Q4. 정정·재마감 절차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12280" y="5212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마감된 기간에 오류 발견 시 처리 방식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고민 지점 ⑤  대사 자동화를 어떻게 설계할지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원장이 여러 개라 정합성 검증이 복잡함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구상 중인 4단계 대사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788920" cy="1828800"/>
          </a:xfrm>
          <a:prstGeom prst="rect">
            <a:avLst/>
          </a:prstGeom>
          <a:ln w="12700">
            <a:solidFill>
              <a:srgbClr val="BFBFBF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920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잔액 대사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DAW 잔액 합 = 총계정 잔액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60120" y="3246120"/>
            <a:ext cx="1828800" cy="274320"/>
          </a:xfrm>
          <a:prstGeom prst="rect">
            <a:avLst/>
          </a:prstGeom>
          <a:solidFill>
            <a:srgbClr val="FFF2CC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64992" y="1783080"/>
            <a:ext cx="2788920" cy="1828800"/>
          </a:xfrm>
          <a:prstGeom prst="rect">
            <a:avLst/>
          </a:prstGeom>
          <a:ln w="12700">
            <a:solidFill>
              <a:srgbClr val="BFBFBF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364992" y="1920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64992" y="22860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건별 대조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02152" y="26974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거래내역 1:1 매칭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67912" y="3246120"/>
            <a:ext cx="1828800" cy="274320"/>
          </a:xfrm>
          <a:prstGeom prst="rect">
            <a:avLst/>
          </a:prstGeom>
          <a:solidFill>
            <a:srgbClr val="FFF2CC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67912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 주기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72784" y="1783080"/>
            <a:ext cx="2788920" cy="1828800"/>
          </a:xfrm>
          <a:prstGeom prst="rect">
            <a:avLst/>
          </a:prstGeom>
          <a:ln w="12700">
            <a:solidFill>
              <a:srgbClr val="BFBFBF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272784" y="1920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72784" y="22860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정산 검증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9944" y="26974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델타원장 정산 완료 확인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75704" y="3246120"/>
            <a:ext cx="1828800" cy="274320"/>
          </a:xfrm>
          <a:prstGeom prst="rect">
            <a:avLst/>
          </a:prstGeom>
          <a:solidFill>
            <a:srgbClr val="FFF2CC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75704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정산 시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80576" y="1783080"/>
            <a:ext cx="2788920" cy="1828800"/>
          </a:xfrm>
          <a:prstGeom prst="rect">
            <a:avLst/>
          </a:prstGeom>
          <a:ln w="12700">
            <a:solidFill>
              <a:srgbClr val="BFBFBF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9180576" y="1920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80576" y="22860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온체인 검증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17736" y="26974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블록체인 = DAW + 델타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83496" y="3246120"/>
            <a:ext cx="1828800" cy="274320"/>
          </a:xfrm>
          <a:prstGeom prst="rect">
            <a:avLst/>
          </a:prstGeom>
          <a:solidFill>
            <a:srgbClr val="FFF2CC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83496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단위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싶은 것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4434840"/>
            <a:ext cx="11247120" cy="1828800"/>
          </a:xfrm>
          <a:prstGeom prst="rect">
            <a:avLst/>
          </a:prstGeom>
          <a:ln w="12700">
            <a:solidFill>
              <a:srgbClr val="7030A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685800" y="457200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Q1. 대사 자동화 프레임워크 — 펀드 시스템에서 사용 중인 도구가 있다면 차용 가능 여부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4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Q2. 불일치 발생 시 처리 — 자동 보정? 운영자 검토 큐? 거래 일시중단?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4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Q3. 대사 결과 보고 체계 — 일별 대사 결과 리포트 양식·전달 채널·승인 절차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4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Q4. 외부 감사 대응 — 감사인이 대사 증적 요구 시 어떤 형태로 제공?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듣고 싶은 것 정리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1247120" cy="777240"/>
          </a:xfrm>
          <a:prstGeom prst="rect">
            <a:avLst/>
          </a:prstGeom>
          <a:ln w="12700">
            <a:solidFill>
              <a:srgbClr val="BFBFBF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손익 계정 설계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5544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수수료수익·외환매매·환산손익·가스비 등 계정 분류와 코인별 분리 여부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11247120" cy="777240"/>
          </a:xfrm>
          <a:prstGeom prst="rect">
            <a:avLst/>
          </a:prstGeom>
          <a:ln w="12700">
            <a:solidFill>
              <a:srgbClr val="BFBFBF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008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자기자본 명시화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24231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잔액과 회계 잔액의 분리, 잔액·거래·스냅샷 3종 구조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11247120" cy="777240"/>
          </a:xfrm>
          <a:prstGeom prst="rect">
            <a:avLst/>
          </a:prstGeom>
          <a:ln w="12700">
            <a:solidFill>
              <a:srgbClr val="BFBFBF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40080" y="32004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외화환산 처리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2918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환율 적용 시점, 환산 주기, 평가손익 계정 분리 방식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11247120" cy="777240"/>
          </a:xfrm>
          <a:prstGeom prst="rect">
            <a:avLst/>
          </a:prstGeom>
          <a:ln w="12700">
            <a:solidFill>
              <a:srgbClr val="BFBFBF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40080" y="40690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결산·마감 프로세스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41605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 기준 시간, 스냅샷 immutability, 정정 절차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937760"/>
            <a:ext cx="11247120" cy="777240"/>
          </a:xfrm>
          <a:prstGeom prst="rect">
            <a:avLst/>
          </a:prstGeom>
          <a:ln w="12700">
            <a:solidFill>
              <a:srgbClr val="BFBFBF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40080" y="49377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72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대사 자동화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50292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대사 도구, 불일치 처리, 보고 체계, 감사 대응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귀한 시간 내주셔서 감사드립니다.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DAW 수탁 시스템 회계 설계 자문 요청</dc:title>
  <dc:subject>PptxGenJS Presentation</dc:subject>
  <dc:creator>PptxGenJS</dc:creator>
  <cp:lastModifiedBy>PptxGenJS</cp:lastModifiedBy>
  <cp:revision>1</cp:revision>
  <dcterms:created xsi:type="dcterms:W3CDTF">2026-04-30T05:02:00Z</dcterms:created>
  <dcterms:modified xsi:type="dcterms:W3CDTF">2026-04-30T05:02:00Z</dcterms:modified>
</cp:coreProperties>
</file>